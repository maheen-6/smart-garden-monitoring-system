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63" r:id="rId2"/>
    <p:sldId id="264" r:id="rId3"/>
    <p:sldId id="265" r:id="rId4"/>
    <p:sldId id="262" r:id="rId5"/>
    <p:sldId id="258" r:id="rId6"/>
    <p:sldId id="259" r:id="rId7"/>
    <p:sldId id="260" r:id="rId8"/>
    <p:sldId id="257" r:id="rId9"/>
    <p:sldId id="261" r:id="rId10"/>
    <p:sldId id="266" r:id="rId11"/>
    <p:sldId id="267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2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808C-6C9A-400E-AEC7-9AA0CA1E9FA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8093-9949-44FE-96EF-503C6A53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01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808C-6C9A-400E-AEC7-9AA0CA1E9FA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8093-9949-44FE-96EF-503C6A53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84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808C-6C9A-400E-AEC7-9AA0CA1E9FA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8093-9949-44FE-96EF-503C6A53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91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808C-6C9A-400E-AEC7-9AA0CA1E9FA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8093-9949-44FE-96EF-503C6A53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2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808C-6C9A-400E-AEC7-9AA0CA1E9FA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8093-9949-44FE-96EF-503C6A53020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855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808C-6C9A-400E-AEC7-9AA0CA1E9FA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8093-9949-44FE-96EF-503C6A53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62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808C-6C9A-400E-AEC7-9AA0CA1E9FA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8093-9949-44FE-96EF-503C6A53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4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808C-6C9A-400E-AEC7-9AA0CA1E9FA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8093-9949-44FE-96EF-503C6A53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31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36B808C-6C9A-400E-AEC7-9AA0CA1E9FA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8093-9949-44FE-96EF-503C6A53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18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808C-6C9A-400E-AEC7-9AA0CA1E9FA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8093-9949-44FE-96EF-503C6A53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883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808C-6C9A-400E-AEC7-9AA0CA1E9FA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8093-9949-44FE-96EF-503C6A53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19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36B808C-6C9A-400E-AEC7-9AA0CA1E9FA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B4F8093-9949-44FE-96EF-503C6A53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04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2" Type="http://schemas.microsoft.com/office/2007/relationships/media" Target="../media/media1.m4a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7" Type="http://schemas.openxmlformats.org/officeDocument/2006/relationships/image" Target="../media/image1.png"/><Relationship Id="rId2" Type="http://schemas.microsoft.com/office/2007/relationships/media" Target="../media/media4.m4a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7" Type="http://schemas.openxmlformats.org/officeDocument/2006/relationships/image" Target="../media/image1.png"/><Relationship Id="rId2" Type="http://schemas.microsoft.com/office/2007/relationships/media" Target="../media/media5.m4a"/><Relationship Id="rId1" Type="http://schemas.openxmlformats.org/officeDocument/2006/relationships/tags" Target="../tags/tag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7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DB76-BCBC-8D06-C3BC-FD2346E72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garden monitoring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59509-4074-4EFC-8F5A-BA03F367D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400538"/>
            <a:ext cx="7729728" cy="3101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ever-evolving realm of modern agriculture and horticulture, the integration of smart technologies has become pivotal for cultivating healthier, more robust gardens. A prime example of this technological infusion is the implementation of a Smart Garden Monitoring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44C0A811-7098-ED42-01F7-3AE89B74FA3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0609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44"/>
    </mc:Choice>
    <mc:Fallback xmlns="">
      <p:transition spd="slow" advTm="101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42B1C-7908-064C-2C64-2C026C8F3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Smart Garden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594B3-04F4-99C0-8C83-E21FCF0F6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Optimal Growth Conditions: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ideal air temperature, humidity, and soil moisture for healthy plant growth.</a:t>
            </a:r>
          </a:p>
          <a:p>
            <a:pPr marL="0" indent="0" algn="l"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Water Efficiency: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 water wastage with soil moisture sensors, ensuring precise watering.</a:t>
            </a:r>
          </a:p>
          <a:p>
            <a:pPr marL="0" indent="0" algn="l"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 Plant Stress: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Avoid overwatering or underwatering by receiving real-time alerts and adjusting conditions accordingly.</a:t>
            </a:r>
          </a:p>
          <a:p>
            <a:pPr marL="0" indent="0" algn="l"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 Monitoring: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and control the garden remotely via an OLED display or mobile app.</a:t>
            </a:r>
          </a:p>
          <a:p>
            <a:pPr marL="0" indent="0" algn="l"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Analysis: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 and analyze historical data for better garden management.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809465"/>
      </p:ext>
    </p:extLst>
  </p:cSld>
  <p:clrMapOvr>
    <a:masterClrMapping/>
  </p:clrMapOvr>
  <p:transition spd="slow" advTm="2839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32C2AF4-CC08-E0B3-A589-7421146CAB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5416" y="2203041"/>
            <a:ext cx="10515600" cy="2908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Energy-Efficient Automation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 efficiently with automated controls and energy conservation.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Tool: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 about plant care through real-time data and visual representation.</a:t>
            </a:r>
          </a:p>
          <a:p>
            <a:pPr marL="0" marR="0" lvl="0" indent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Customization and Scalability: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Tailor the system to specific needs and easily expand with additional features.</a:t>
            </a:r>
          </a:p>
          <a:p>
            <a:pPr marL="0" marR="0" lvl="0" indent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Productivity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eaLnBrk="1" hangingPunct="1">
              <a:lnSpc>
                <a:spcPct val="80000"/>
              </a:lnSpc>
              <a:buClrTx/>
              <a:buSzTx/>
              <a:buNone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 to higher productivity and yield in gardens or agricultural settings.</a:t>
            </a:r>
          </a:p>
          <a:p>
            <a:pPr marL="457200" marR="0" lvl="1" indent="0" eaLnBrk="1" hangingPunct="1">
              <a:lnSpc>
                <a:spcPct val="80000"/>
              </a:lnSpc>
              <a:buClrTx/>
              <a:buSzTx/>
              <a:buNone/>
              <a:tabLst/>
            </a:pP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76D0E914-43A5-BA5C-E5EB-EC1B799549BF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124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16"/>
    </mc:Choice>
    <mc:Fallback xmlns="">
      <p:transition spd="slow" advTm="28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ECB3A-5EE6-0A3F-3468-720DE2491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80842-0787-01BF-9FB4-1AB61C728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Ardiuno</a:t>
            </a:r>
            <a:r>
              <a:rPr lang="en-US" dirty="0"/>
              <a:t> UNO</a:t>
            </a:r>
          </a:p>
          <a:p>
            <a:r>
              <a:rPr lang="en-US" dirty="0" err="1"/>
              <a:t>BreadBoard</a:t>
            </a:r>
            <a:endParaRPr lang="en-US" dirty="0"/>
          </a:p>
          <a:p>
            <a:r>
              <a:rPr lang="en-US" dirty="0"/>
              <a:t>Soil Moisture sensor</a:t>
            </a:r>
          </a:p>
          <a:p>
            <a:r>
              <a:rPr lang="en-US" dirty="0"/>
              <a:t>OLED</a:t>
            </a:r>
          </a:p>
          <a:p>
            <a:r>
              <a:rPr lang="en-US" dirty="0"/>
              <a:t>DHT 11</a:t>
            </a:r>
          </a:p>
          <a:p>
            <a:endParaRPr lang="en-US" dirty="0"/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EE352019-2069-6EAA-B97A-9FDA20FBA118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783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30"/>
    </mc:Choice>
    <mc:Fallback xmlns="">
      <p:transition spd="slow" advTm="2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BCE14-4D60-5F09-37D7-ADE7303B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1" y="514652"/>
            <a:ext cx="4140200" cy="734403"/>
          </a:xfrm>
        </p:spPr>
        <p:txBody>
          <a:bodyPr>
            <a:normAutofit fontScale="90000"/>
          </a:bodyPr>
          <a:lstStyle/>
          <a:p>
            <a:r>
              <a:rPr lang="en-US" sz="4000" b="1" dirty="0" err="1"/>
              <a:t>BreadBord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D18F8-7AD0-C2FC-0CEC-94CF174B4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85029"/>
            <a:ext cx="3646714" cy="169231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AD4F7-6CE8-6243-804F-616A7E700D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0" y="1231290"/>
            <a:ext cx="4406901" cy="21977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6516A5-7725-F39D-0E03-F687E5629244}"/>
              </a:ext>
            </a:extLst>
          </p:cNvPr>
          <p:cNvSpPr txBox="1"/>
          <p:nvPr/>
        </p:nvSpPr>
        <p:spPr>
          <a:xfrm>
            <a:off x="7023100" y="3429000"/>
            <a:ext cx="46101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Uno is a microcontroller board based on the ATmega328P (datasheet). It has 14 digital input/output pins (of which 6 can be used as PWM outputs), 6 analog inputs, a 16 MHz ceramic resonator (CSTCE16M0V53-R0), a USB connection, a power jack, an ICSP header and a reset button.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DCC373-19FD-C91E-E17C-CFFCD0924ED7}"/>
              </a:ext>
            </a:extLst>
          </p:cNvPr>
          <p:cNvSpPr txBox="1"/>
          <p:nvPr/>
        </p:nvSpPr>
        <p:spPr>
          <a:xfrm>
            <a:off x="7473043" y="514652"/>
            <a:ext cx="330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Ardiuno</a:t>
            </a:r>
            <a:r>
              <a:rPr lang="en-US" sz="3200" b="1" dirty="0"/>
              <a:t> UNO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834B25-85AA-06E7-5554-A4265C0F486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666" t="21618" r="9492" b="21593"/>
          <a:stretch/>
        </p:blipFill>
        <p:spPr>
          <a:xfrm>
            <a:off x="1155701" y="1397677"/>
            <a:ext cx="4562928" cy="20313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6586D4-9C71-FD9A-6BF5-ED0EA19478A4}"/>
              </a:ext>
            </a:extLst>
          </p:cNvPr>
          <p:cNvSpPr txBox="1"/>
          <p:nvPr/>
        </p:nvSpPr>
        <p:spPr>
          <a:xfrm>
            <a:off x="1228272" y="3585029"/>
            <a:ext cx="44177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breadboard (sometimes called a </a:t>
            </a:r>
            <a:r>
              <a:rPr lang="en-US" sz="2000" b="0" i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plugblock</a:t>
            </a:r>
            <a:r>
              <a:rPr lang="en-US" sz="20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is used for </a:t>
            </a:r>
            <a:r>
              <a:rPr lang="en-US" sz="2000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building temporary circuits</a:t>
            </a:r>
            <a:r>
              <a:rPr lang="en-US" sz="20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It is useful to designers because it allows components to be removed and replaced easily. It is useful to the person who wants to build a circuit to demonstrate its action, then to reuse the components in another circuit.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15D6E78A-5089-6EAA-3C50-14B167834EF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5015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02"/>
    </mc:Choice>
    <mc:Fallback xmlns="">
      <p:transition spd="slow" advTm="36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2" grpId="0" animBg="1"/>
      <p:bldP spid="5" grpId="0"/>
      <p:bldP spid="7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6AD3E1-C50C-FD9D-4E58-ABCE37850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69725" y="623886"/>
            <a:ext cx="4640905" cy="3429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CFA85D-2617-021A-C0B1-570AD2748CA7}"/>
              </a:ext>
            </a:extLst>
          </p:cNvPr>
          <p:cNvSpPr txBox="1"/>
          <p:nvPr/>
        </p:nvSpPr>
        <p:spPr>
          <a:xfrm>
            <a:off x="1905000" y="3429000"/>
            <a:ext cx="3759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AB3E5-1C62-1C92-9E4D-670EF816AE32}"/>
              </a:ext>
            </a:extLst>
          </p:cNvPr>
          <p:cNvSpPr txBox="1"/>
          <p:nvPr/>
        </p:nvSpPr>
        <p:spPr>
          <a:xfrm>
            <a:off x="182881" y="3995678"/>
            <a:ext cx="54813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sensors (SMSs) measure soil moisture at the root zone and regulate the existing conventional irrigation timer, resulting in considerable water savings when installed and used properly. A customized soil water content threshold is set, allowing for dryer or wetter soil condition.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2619B9-9144-C43D-96EE-5FD4A09741B8}"/>
              </a:ext>
            </a:extLst>
          </p:cNvPr>
          <p:cNvSpPr txBox="1"/>
          <p:nvPr/>
        </p:nvSpPr>
        <p:spPr>
          <a:xfrm>
            <a:off x="5775429" y="-57201"/>
            <a:ext cx="5524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Sensors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3F954B-358A-960D-F5B7-EE49FA140AAC}"/>
              </a:ext>
            </a:extLst>
          </p:cNvPr>
          <p:cNvSpPr txBox="1"/>
          <p:nvPr/>
        </p:nvSpPr>
        <p:spPr>
          <a:xfrm>
            <a:off x="6270171" y="4549676"/>
            <a:ext cx="57389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DHT11 is a basic, ultra low-cost digital temperature and humidity sensor. It uses a capacitive humidity sensor and a thermistor to measure the surrounding air and spits out a digital signal on the data pin (no analog input pins needed).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72C222-E1E5-E540-EB65-6281984A67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1370" y="1952427"/>
            <a:ext cx="3091097" cy="25075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67B5BD-1A54-5A33-4E59-0D540D757F27}"/>
              </a:ext>
            </a:extLst>
          </p:cNvPr>
          <p:cNvSpPr txBox="1"/>
          <p:nvPr/>
        </p:nvSpPr>
        <p:spPr>
          <a:xfrm>
            <a:off x="7792357" y="1372632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DHT 11 sensor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598CF0-143D-E831-75EF-278C7322B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98673"/>
            <a:ext cx="2530869" cy="426540"/>
          </a:xfrm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pPr algn="l" defTabSz="457200"/>
            <a:r>
              <a:rPr lang="en-US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Soil moisture sensor</a:t>
            </a:r>
          </a:p>
        </p:txBody>
      </p: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2FB3F8AD-421D-447E-F8E0-EC11400D2E4F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12605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0"/>
    </mc:Choice>
    <mc:Fallback xmlns="">
      <p:transition spd="slow" advTm="30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D6D4-8321-BFB9-A8BF-318DD142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31646"/>
            <a:ext cx="7729728" cy="1188720"/>
          </a:xfrm>
        </p:spPr>
        <p:txBody>
          <a:bodyPr/>
          <a:lstStyle/>
          <a:p>
            <a:r>
              <a:rPr lang="en-US" b="1" dirty="0"/>
              <a:t>OLED Display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EF23BDF-355D-4974-AE45-AF8F492FA3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24620" y="1928097"/>
            <a:ext cx="4351338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F0177D-C1D7-18E4-2A67-C1BF1B9ACE5C}"/>
              </a:ext>
            </a:extLst>
          </p:cNvPr>
          <p:cNvSpPr txBox="1"/>
          <p:nvPr/>
        </p:nvSpPr>
        <p:spPr>
          <a:xfrm>
            <a:off x="5182676" y="1843215"/>
            <a:ext cx="52541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OLED displays have many outstanding characteristics: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saturated, vivid colors.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deepest black, highest contrast ratio.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wide viewing angle (180°)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power consumption.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extremely thin form factor, flexible.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in microseconds for very crisp motion picture quality and 3D applications.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B10CF95C-33E3-DB70-B634-8AB07A3BFE7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8035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2"/>
    </mc:Choice>
    <mc:Fallback xmlns="">
      <p:transition spd="slow" advTm="15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2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D49D26-2EEB-15A1-ECB7-CEB1493B15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458" t="25358" r="21042" b="7016"/>
          <a:stretch/>
        </p:blipFill>
        <p:spPr>
          <a:xfrm>
            <a:off x="0" y="-89452"/>
            <a:ext cx="12192000" cy="6616700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F03E01F5-3277-301D-A9B1-1887D51292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3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1"/>
    </mc:Choice>
    <mc:Fallback xmlns="">
      <p:transition spd="slow" advTm="11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6EFC51-33D1-B9B8-D5C7-7676CD54258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78" b="10135"/>
          <a:stretch/>
        </p:blipFill>
        <p:spPr>
          <a:xfrm>
            <a:off x="0" y="1674"/>
            <a:ext cx="12192000" cy="6856326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83213EEE-5FFB-0B0A-B690-B5E2ABA2E5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62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76"/>
    </mc:Choice>
    <mc:Fallback xmlns="">
      <p:transition spd="slow" advTm="125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A8D82C-282D-842F-CBE2-EA7FA274C9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807" b="767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6EA27227-B28A-2997-CA99-37A31E50C3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58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8"/>
    </mc:Choice>
    <mc:Fallback xmlns="">
      <p:transition spd="slow" advTm="6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DB53D6-26FF-4A9E-24CF-8B938181AE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16" t="63803" b="5844"/>
          <a:stretch/>
        </p:blipFill>
        <p:spPr>
          <a:xfrm>
            <a:off x="189914" y="1691639"/>
            <a:ext cx="11812172" cy="3949505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294AE762-5656-22A4-4ED7-995EB7B84A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9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99"/>
    </mc:Choice>
    <mc:Fallback xmlns="">
      <p:transition spd="slow" advTm="21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4830F-BF76-BD21-961E-D770C1289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1C337F-DBC0-CC46-F7FC-8A00B97D5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032718" y="3968400"/>
            <a:ext cx="3740832" cy="2834450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D0E35C-5436-7866-35C9-F0C9D4C731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023550"/>
            <a:ext cx="5032717" cy="2834450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7945E0-8BD9-28ED-C5BE-7DBDE80BB5C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654" t="17596" b="1"/>
          <a:stretch/>
        </p:blipFill>
        <p:spPr>
          <a:xfrm>
            <a:off x="77372" y="-27575"/>
            <a:ext cx="8623495" cy="4023550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ED4F0B-BB1A-2FF0-60F8-DF20321224D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2923" r="30538"/>
          <a:stretch/>
        </p:blipFill>
        <p:spPr>
          <a:xfrm>
            <a:off x="8773550" y="-59788"/>
            <a:ext cx="3418450" cy="6913150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243AE039-675C-3E17-0B0C-0A65C8790F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98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1"/>
    </mc:Choice>
    <mc:Fallback xmlns="">
      <p:transition spd="slow" advTm="11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9EEA1-9246-8B5B-CB30-D373A284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0FC127-E296-DB80-82B1-B944DA898E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260125" y="-2"/>
            <a:ext cx="5931874" cy="69775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8301EA-6BCF-F349-AC61-0A62201809B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6585" r="12438" b="14210"/>
          <a:stretch/>
        </p:blipFill>
        <p:spPr>
          <a:xfrm rot="16200000">
            <a:off x="-298938" y="298938"/>
            <a:ext cx="6858002" cy="6260123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CE84D55F-1F28-CAD7-14C9-CD7CB7771D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54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55"/>
    </mc:Choice>
    <mc:Fallback xmlns="">
      <p:transition spd="slow" advTm="20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0.9|5.6|0.9|0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0.4|0.3|0.4|0.3|0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3|0.2|0.1|0.4|0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6|0.3"/>
</p:tagLst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207</TotalTime>
  <Words>477</Words>
  <Application>Microsoft Office PowerPoint</Application>
  <PresentationFormat>Widescreen</PresentationFormat>
  <Paragraphs>45</Paragraphs>
  <Slides>13</Slides>
  <Notes>0</Notes>
  <HiddenSlides>0</HiddenSlides>
  <MMClips>12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Times New Roman</vt:lpstr>
      <vt:lpstr>Parcel</vt:lpstr>
      <vt:lpstr>Smart garden monitoring system</vt:lpstr>
      <vt:lpstr>WHY Smart Garden Monitoring</vt:lpstr>
      <vt:lpstr>PowerPoint Presentation</vt:lpstr>
      <vt:lpstr>Components</vt:lpstr>
      <vt:lpstr>BreadBord</vt:lpstr>
      <vt:lpstr>Soil moisture sensor</vt:lpstr>
      <vt:lpstr>OLED Display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GARDEN MONITORING SYSTEM IOT PROJECT</dc:title>
  <dc:creator>PAK COMPUTERS</dc:creator>
  <cp:lastModifiedBy>HP</cp:lastModifiedBy>
  <cp:revision>8</cp:revision>
  <dcterms:created xsi:type="dcterms:W3CDTF">2024-01-18T19:22:23Z</dcterms:created>
  <dcterms:modified xsi:type="dcterms:W3CDTF">2026-09-08T02:01:54Z</dcterms:modified>
</cp:coreProperties>
</file>